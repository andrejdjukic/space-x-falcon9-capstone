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2" r:id="rId19"/>
    <p:sldId id="273" r:id="rId20"/>
    <p:sldId id="274" r:id="rId21"/>
    <p:sldId id="275" r:id="rId22"/>
  </p:sldIdLst>
  <p:sldSz cx="12192000" cy="6858000"/>
  <p:notesSz cx="6858000" cy="1857375"/>
  <p:custDataLst>
    <p:tags r:id="rId2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C3"/>
    <a:srgbClr val="007D79"/>
    <a:srgbClr val="D02670"/>
    <a:srgbClr val="231F20"/>
    <a:srgbClr val="33B1FF"/>
    <a:srgbClr val="262626"/>
    <a:srgbClr val="525252"/>
    <a:srgbClr val="BE95FF"/>
    <a:srgbClr val="FFFFFF"/>
    <a:srgbClr val="C1C7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713" autoAdjust="0"/>
    <p:restoredTop sz="91480" autoAdjust="0"/>
  </p:normalViewPr>
  <p:slideViewPr>
    <p:cSldViewPr snapToGrid="0">
      <p:cViewPr varScale="1">
        <p:scale>
          <a:sx n="99" d="100"/>
          <a:sy n="99" d="100"/>
        </p:scale>
        <p:origin x="72" y="804"/>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4/14/2025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7.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image" Target="../media/image6.png"/><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 Id="rId1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hyperlink" Target="https://www.wallpaperflare.com/rocket-space-shuttle-spacecraft-spacex-falcon-heavy-rocket-wallpaper-rlsz" TargetMode="External"/><Relationship Id="rId4" Type="http://schemas.openxmlformats.org/officeDocument/2006/relationships/image" Target="../media/image9.jpg"/></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10.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3.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tags" Target="../tags/tag16.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tags" Target="../tags/tag17.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3.xml"/><Relationship Id="rId1" Type="http://schemas.openxmlformats.org/officeDocument/2006/relationships/tags" Target="../tags/tag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1" y="191614"/>
            <a:ext cx="12192000" cy="5788155"/>
          </a:xfrm>
          <a:prstGeom prst="rect">
            <a:avLst/>
          </a:prstGeom>
          <a:noFill/>
        </p:spPr>
      </p:pic>
      <p:sp>
        <p:nvSpPr>
          <p:cNvPr id="6" name="Title 5">
            <a:extLst>
              <a:ext uri="{FF2B5EF4-FFF2-40B4-BE49-F238E27FC236}">
                <a16:creationId xmlns:a16="http://schemas.microsoft.com/office/drawing/2014/main" id="{AF1795C4-A235-AEC7-43F0-85AC7CC5E54B}"/>
              </a:ext>
            </a:extLst>
          </p:cNvPr>
          <p:cNvSpPr>
            <a:spLocks noGrp="1"/>
          </p:cNvSpPr>
          <p:nvPr>
            <p:ph type="ctrTitle"/>
          </p:nvPr>
        </p:nvSpPr>
        <p:spPr>
          <a:xfrm>
            <a:off x="2209799" y="1266825"/>
            <a:ext cx="7353301" cy="1135277"/>
          </a:xfrm>
          <a:solidFill>
            <a:schemeClr val="accent4">
              <a:lumMod val="40000"/>
              <a:lumOff val="60000"/>
            </a:schemeClr>
          </a:solidFill>
        </p:spPr>
        <p:txBody>
          <a:bodyPr>
            <a:normAutofit/>
          </a:bodyPr>
          <a:lstStyle/>
          <a:p>
            <a:r>
              <a:rPr lang="en-US" sz="3200" dirty="0">
                <a:solidFill>
                  <a:schemeClr val="accent1">
                    <a:lumMod val="50000"/>
                  </a:schemeClr>
                </a:solidFill>
              </a:rPr>
              <a:t>IBM Data Science Capstone Project</a:t>
            </a:r>
            <a:br>
              <a:rPr lang="en-US" sz="3200" dirty="0">
                <a:solidFill>
                  <a:schemeClr val="accent1">
                    <a:lumMod val="50000"/>
                  </a:schemeClr>
                </a:solidFill>
              </a:rPr>
            </a:br>
            <a:r>
              <a:rPr lang="en-US" sz="3200" dirty="0">
                <a:solidFill>
                  <a:schemeClr val="accent1">
                    <a:lumMod val="50000"/>
                  </a:schemeClr>
                </a:solidFill>
              </a:rPr>
              <a:t>Space X</a:t>
            </a:r>
          </a:p>
        </p:txBody>
      </p:sp>
      <p:sp>
        <p:nvSpPr>
          <p:cNvPr id="7" name="Rectangle 6">
            <a:extLst>
              <a:ext uri="{FF2B5EF4-FFF2-40B4-BE49-F238E27FC236}">
                <a16:creationId xmlns:a16="http://schemas.microsoft.com/office/drawing/2014/main" id="{6EB727E0-F186-1706-D494-675B532923D0}"/>
              </a:ext>
            </a:extLst>
          </p:cNvPr>
          <p:cNvSpPr/>
          <p:nvPr/>
        </p:nvSpPr>
        <p:spPr>
          <a:xfrm>
            <a:off x="0" y="5979770"/>
            <a:ext cx="12192000" cy="87823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2030EF2-C206-EC8B-E6F2-54656EEBFB74}"/>
              </a:ext>
            </a:extLst>
          </p:cNvPr>
          <p:cNvSpPr txBox="1"/>
          <p:nvPr/>
        </p:nvSpPr>
        <p:spPr>
          <a:xfrm>
            <a:off x="142875" y="6297054"/>
            <a:ext cx="1609725" cy="369332"/>
          </a:xfrm>
          <a:prstGeom prst="rect">
            <a:avLst/>
          </a:prstGeom>
          <a:noFill/>
        </p:spPr>
        <p:txBody>
          <a:bodyPr wrap="square" rtlCol="0">
            <a:spAutoFit/>
          </a:bodyPr>
          <a:lstStyle/>
          <a:p>
            <a:r>
              <a:rPr lang="en-US" dirty="0"/>
              <a:t>Andrej Djukic</a:t>
            </a:r>
          </a:p>
        </p:txBody>
      </p:sp>
      <p:pic>
        <p:nvPicPr>
          <p:cNvPr id="10" name="Picture 9">
            <a:extLst>
              <a:ext uri="{FF2B5EF4-FFF2-40B4-BE49-F238E27FC236}">
                <a16:creationId xmlns:a16="http://schemas.microsoft.com/office/drawing/2014/main" id="{487A3597-5320-38BF-C4F3-2C0BF0C7D6F0}"/>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5257799" y="5979769"/>
            <a:ext cx="6934200" cy="878231"/>
          </a:xfrm>
          <a:prstGeom prst="rect">
            <a:avLst/>
          </a:prstGeom>
        </p:spPr>
      </p:pic>
      <p:sp>
        <p:nvSpPr>
          <p:cNvPr id="12" name="TextBox 11">
            <a:extLst>
              <a:ext uri="{FF2B5EF4-FFF2-40B4-BE49-F238E27FC236}">
                <a16:creationId xmlns:a16="http://schemas.microsoft.com/office/drawing/2014/main" id="{2D853226-0E54-4109-F771-5FE14913E7C8}"/>
              </a:ext>
            </a:extLst>
          </p:cNvPr>
          <p:cNvSpPr txBox="1"/>
          <p:nvPr/>
        </p:nvSpPr>
        <p:spPr>
          <a:xfrm>
            <a:off x="5553074" y="6297054"/>
            <a:ext cx="3629025" cy="400110"/>
          </a:xfrm>
          <a:prstGeom prst="rect">
            <a:avLst/>
          </a:prstGeom>
          <a:noFill/>
        </p:spPr>
        <p:txBody>
          <a:bodyPr wrap="square" rtlCol="0">
            <a:spAutoFit/>
          </a:bodyPr>
          <a:lstStyle/>
          <a:p>
            <a:r>
              <a:rPr lang="en-US" sz="2000" b="1" i="1" u="sng" dirty="0">
                <a:solidFill>
                  <a:srgbClr val="FFFF00"/>
                </a:solidFill>
                <a:effectLst>
                  <a:outerShdw blurRad="38100" dist="38100" dir="2700000" algn="tl">
                    <a:srgbClr val="000000">
                      <a:alpha val="43137"/>
                    </a:srgbClr>
                  </a:outerShdw>
                </a:effectLst>
              </a:rPr>
              <a:t>Space Exploration Technologies</a:t>
            </a:r>
          </a:p>
        </p:txBody>
      </p:sp>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9272" y="263810"/>
            <a:ext cx="10564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dirty="0"/>
              <a:t>OUTLINE</a:t>
            </a:r>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Executive Summary</a:t>
            </a:r>
          </a:p>
          <a:p>
            <a:r>
              <a:rPr lang="en-US" sz="2200" dirty="0"/>
              <a:t>Introduction</a:t>
            </a:r>
          </a:p>
          <a:p>
            <a:r>
              <a:rPr lang="en-US" sz="2200" dirty="0"/>
              <a:t>Methodology</a:t>
            </a:r>
          </a:p>
          <a:p>
            <a:r>
              <a:rPr lang="en-US" sz="2200" dirty="0"/>
              <a:t>Results</a:t>
            </a:r>
          </a:p>
          <a:p>
            <a:pPr lvl="1"/>
            <a:r>
              <a:rPr lang="en-US" sz="1800" dirty="0"/>
              <a:t>Visualization – Charts</a:t>
            </a:r>
          </a:p>
          <a:p>
            <a:pPr lvl="1"/>
            <a:r>
              <a:rPr lang="en-US" sz="1800" dirty="0"/>
              <a:t>Dashboard</a:t>
            </a:r>
          </a:p>
          <a:p>
            <a:r>
              <a:rPr lang="en-US" sz="2200" dirty="0"/>
              <a:t>Discussion</a:t>
            </a:r>
          </a:p>
          <a:p>
            <a:pPr lvl="1"/>
            <a:r>
              <a:rPr lang="en-US" sz="1800" dirty="0"/>
              <a:t>Findings &amp; Implications</a:t>
            </a:r>
          </a:p>
          <a:p>
            <a:r>
              <a:rPr lang="en-US" sz="2200" dirty="0"/>
              <a:t>Conclusion</a:t>
            </a:r>
          </a:p>
          <a:p>
            <a:r>
              <a:rPr lang="en-US" sz="2200" dirty="0"/>
              <a:t>Appendix</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4285075" y="1825624"/>
            <a:ext cx="7068725" cy="44654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Data Collection</a:t>
            </a:r>
          </a:p>
          <a:p>
            <a:r>
              <a:rPr lang="en-US" sz="2200" dirty="0"/>
              <a:t>Data Wrangling</a:t>
            </a:r>
          </a:p>
          <a:p>
            <a:pPr lvl="1"/>
            <a:r>
              <a:rPr lang="en-US" sz="1800" dirty="0"/>
              <a:t>EDA with data visualization</a:t>
            </a:r>
          </a:p>
          <a:p>
            <a:pPr lvl="1"/>
            <a:r>
              <a:rPr lang="en-US" sz="1800" dirty="0"/>
              <a:t>EDA with SQL</a:t>
            </a:r>
          </a:p>
          <a:p>
            <a:pPr lvl="1"/>
            <a:r>
              <a:rPr lang="en-US" sz="1800" dirty="0"/>
              <a:t> Building an interactive map with Folium</a:t>
            </a:r>
          </a:p>
          <a:p>
            <a:r>
              <a:rPr lang="en-US" sz="2200" dirty="0"/>
              <a:t>Building a Dashboard with </a:t>
            </a:r>
            <a:r>
              <a:rPr lang="en-US" sz="2200" dirty="0" err="1"/>
              <a:t>Plotly</a:t>
            </a:r>
            <a:r>
              <a:rPr lang="en-US" sz="2200" dirty="0"/>
              <a:t> Dash</a:t>
            </a:r>
          </a:p>
          <a:p>
            <a:r>
              <a:rPr lang="en-US" sz="2200" dirty="0"/>
              <a:t>Predictive analysis (Classification)</a:t>
            </a:r>
          </a:p>
          <a:p>
            <a:r>
              <a:rPr lang="en-US" sz="2200" dirty="0"/>
              <a:t>EDA results</a:t>
            </a:r>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1090494" y="2302762"/>
            <a:ext cx="3194581" cy="3194581"/>
          </a:xfrm>
          <a:prstGeom prst="rect">
            <a:avLst/>
          </a:prstGeom>
        </p:spPr>
      </p:pic>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4285075" y="1825625"/>
            <a:ext cx="7068725"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endParaRPr lang="en-US" sz="1800" b="0" i="0" u="none" strike="noStrike" baseline="0" dirty="0">
              <a:solidFill>
                <a:schemeClr val="tx1"/>
              </a:solidFill>
              <a:latin typeface="Arial" panose="020B0604020202020204" pitchFamily="34" charset="0"/>
            </a:endParaRPr>
          </a:p>
          <a:p>
            <a:r>
              <a:rPr lang="en-US" sz="1800" b="1" i="0" u="none" strike="noStrike" baseline="0" dirty="0">
                <a:solidFill>
                  <a:schemeClr val="tx1"/>
                </a:solidFill>
                <a:latin typeface="Calibri" panose="020F0502020204030204" pitchFamily="34" charset="0"/>
              </a:rPr>
              <a:t>Project background and context</a:t>
            </a:r>
            <a:endParaRPr lang="en-US" sz="1800" b="0" i="0" u="none" strike="noStrike" baseline="0" dirty="0">
              <a:solidFill>
                <a:schemeClr val="tx1"/>
              </a:solidFill>
              <a:latin typeface="Calibri" panose="020F0502020204030204" pitchFamily="34" charset="0"/>
            </a:endParaRPr>
          </a:p>
          <a:p>
            <a:pPr marL="0" indent="0">
              <a:buNone/>
            </a:pPr>
            <a:r>
              <a:rPr lang="en-US" sz="1800" b="0" i="0" u="none" strike="noStrike" baseline="0" dirty="0">
                <a:solidFill>
                  <a:schemeClr val="tx1"/>
                </a:solidFill>
                <a:latin typeface="Calibri" panose="020F0502020204030204" pitchFamily="34" charset="0"/>
              </a:rPr>
              <a:t>We predicted if the Falcon 9 first stage will land successfully. SpaceX advertises Falcon 9 rocket launches on its website, with a cost of 62 million dollars; other providers cost upward of 165 million dollars each, much of the savings is because SpaceX can reuse the first stage. Therefore, if we can determine if the first stage will land, we can determine the cost of a launch. This information can be used if an alternate company wants to bid against SpaceX for a rocket launch. </a:t>
            </a:r>
          </a:p>
          <a:p>
            <a:r>
              <a:rPr lang="en-US" sz="1800" b="1" i="0" u="none" strike="noStrike" baseline="0" dirty="0">
                <a:solidFill>
                  <a:schemeClr val="tx1"/>
                </a:solidFill>
                <a:latin typeface="Calibri" panose="020F0502020204030204" pitchFamily="34" charset="0"/>
              </a:rPr>
              <a:t>Common problems that needed solving.</a:t>
            </a:r>
            <a:endParaRPr lang="en-US" sz="1800" b="0" i="0" u="none" strike="noStrike" baseline="0" dirty="0">
              <a:solidFill>
                <a:schemeClr val="tx1"/>
              </a:solidFill>
              <a:latin typeface="Calibri" panose="020F0502020204030204" pitchFamily="34" charset="0"/>
            </a:endParaRPr>
          </a:p>
          <a:p>
            <a:pPr marL="0" indent="0">
              <a:buNone/>
            </a:pPr>
            <a:r>
              <a:rPr lang="en-US" sz="1800" b="0" i="0" u="none" strike="noStrike" baseline="0" dirty="0">
                <a:solidFill>
                  <a:schemeClr val="tx1"/>
                </a:solidFill>
                <a:latin typeface="Calibri" panose="020F0502020204030204" pitchFamily="34" charset="0"/>
              </a:rPr>
              <a:t>What influences if the rocket will land successfully?</a:t>
            </a:r>
          </a:p>
          <a:p>
            <a:pPr marL="0" indent="0">
              <a:buNone/>
            </a:pPr>
            <a:r>
              <a:rPr lang="en-US" sz="1800" b="0" i="0" u="none" strike="noStrike" baseline="0" dirty="0">
                <a:solidFill>
                  <a:schemeClr val="tx1"/>
                </a:solidFill>
                <a:latin typeface="Calibri" panose="020F0502020204030204" pitchFamily="34" charset="0"/>
              </a:rPr>
              <a:t>The effect each relationship with certain rocket variables will impact in determining the success rate of a successful landing.</a:t>
            </a:r>
          </a:p>
          <a:p>
            <a:pPr marL="0" indent="0">
              <a:buNone/>
            </a:pPr>
            <a:r>
              <a:rPr lang="en-US" sz="1800" b="0" i="0" u="none" strike="noStrike" baseline="0" dirty="0">
                <a:solidFill>
                  <a:schemeClr val="tx1"/>
                </a:solidFill>
                <a:latin typeface="Calibri" panose="020F0502020204030204" pitchFamily="34" charset="0"/>
              </a:rPr>
              <a:t>What conditions does SpaceX have to achieve to get the best results and ensure the best rocket success landing rate.</a:t>
            </a:r>
          </a:p>
          <a:p>
            <a:pPr marL="0" indent="0">
              <a:buNone/>
            </a:pPr>
            <a:endParaRPr lang="en-US" sz="2200" dirty="0">
              <a:solidFill>
                <a:schemeClr val="tx1"/>
              </a:solidFill>
            </a:endParaRP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376642"/>
            <a:ext cx="7230723" cy="1325563"/>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285075" y="1825625"/>
            <a:ext cx="7068725" cy="435133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1800" b="0" i="0" u="none" strike="noStrike" baseline="0" dirty="0">
              <a:solidFill>
                <a:schemeClr val="tx1"/>
              </a:solidFill>
              <a:latin typeface="Arial" panose="020B0604020202020204" pitchFamily="34" charset="0"/>
            </a:endParaRPr>
          </a:p>
          <a:p>
            <a:pPr marL="0" indent="0">
              <a:buNone/>
            </a:pPr>
            <a:r>
              <a:rPr lang="en-US" sz="1800" b="0" i="0" u="none" strike="noStrike" baseline="0" dirty="0">
                <a:solidFill>
                  <a:schemeClr val="tx1"/>
                </a:solidFill>
                <a:latin typeface="Arial" panose="020B0604020202020204" pitchFamily="34" charset="0"/>
              </a:rPr>
              <a:t>•</a:t>
            </a:r>
            <a:r>
              <a:rPr lang="en-US" sz="1800" b="0" i="0" u="none" strike="noStrike" baseline="0" dirty="0">
                <a:solidFill>
                  <a:schemeClr val="tx1"/>
                </a:solidFill>
                <a:latin typeface="Calibri" panose="020F0502020204030204" pitchFamily="34" charset="0"/>
              </a:rPr>
              <a:t>Data collection methodology:</a:t>
            </a:r>
          </a:p>
          <a:p>
            <a:pPr marL="0" indent="0">
              <a:buNone/>
            </a:pPr>
            <a:r>
              <a:rPr lang="en-US" sz="1800" b="0" i="0" u="none" strike="noStrike" baseline="0" dirty="0">
                <a:solidFill>
                  <a:schemeClr val="tx1"/>
                </a:solidFill>
                <a:latin typeface="Arial" panose="020B0604020202020204" pitchFamily="34" charset="0"/>
              </a:rPr>
              <a:t>	•</a:t>
            </a:r>
            <a:r>
              <a:rPr lang="en-US" sz="1800" b="0" i="0" u="none" strike="noStrike" baseline="0" dirty="0">
                <a:solidFill>
                  <a:schemeClr val="tx1"/>
                </a:solidFill>
                <a:latin typeface="Calibri" panose="020F0502020204030204" pitchFamily="34" charset="0"/>
              </a:rPr>
              <a:t>SpaceX Rest API </a:t>
            </a:r>
          </a:p>
          <a:p>
            <a:pPr marL="0" indent="0">
              <a:buNone/>
            </a:pPr>
            <a:r>
              <a:rPr lang="en-US" sz="1800" b="0" i="0" u="none" strike="noStrike" baseline="0" dirty="0">
                <a:solidFill>
                  <a:schemeClr val="tx1"/>
                </a:solidFill>
                <a:latin typeface="Arial" panose="020B0604020202020204" pitchFamily="34" charset="0"/>
              </a:rPr>
              <a:t>	•</a:t>
            </a:r>
            <a:r>
              <a:rPr lang="en-US" sz="1800" b="0" i="0" u="none" strike="noStrike" baseline="0" dirty="0">
                <a:solidFill>
                  <a:schemeClr val="tx1"/>
                </a:solidFill>
                <a:latin typeface="Calibri" panose="020F0502020204030204" pitchFamily="34" charset="0"/>
              </a:rPr>
              <a:t>(Web Scrapping) from Wikipedia</a:t>
            </a:r>
          </a:p>
          <a:p>
            <a:pPr marL="0" indent="0">
              <a:buNone/>
            </a:pPr>
            <a:r>
              <a:rPr lang="en-US" sz="1800" b="0" i="0" u="none" strike="noStrike" baseline="0" dirty="0">
                <a:solidFill>
                  <a:schemeClr val="tx1"/>
                </a:solidFill>
                <a:latin typeface="Arial" panose="020B0604020202020204" pitchFamily="34" charset="0"/>
              </a:rPr>
              <a:t>•</a:t>
            </a:r>
            <a:r>
              <a:rPr lang="en-US" sz="1800" b="0" i="0" u="none" strike="noStrike" baseline="0" dirty="0">
                <a:solidFill>
                  <a:schemeClr val="tx1"/>
                </a:solidFill>
                <a:latin typeface="Calibri" panose="020F0502020204030204" pitchFamily="34" charset="0"/>
              </a:rPr>
              <a:t>Performed data wrangling (Transforming data for Machine Learning)</a:t>
            </a:r>
          </a:p>
          <a:p>
            <a:pPr marL="0" indent="0">
              <a:buNone/>
            </a:pPr>
            <a:r>
              <a:rPr lang="en-US" sz="1800" dirty="0">
                <a:solidFill>
                  <a:schemeClr val="tx1"/>
                </a:solidFill>
                <a:latin typeface="Arial" panose="020B0604020202020204" pitchFamily="34" charset="0"/>
              </a:rPr>
              <a:t>	</a:t>
            </a:r>
            <a:r>
              <a:rPr lang="en-US" sz="1800" b="0" i="0" u="none" strike="noStrike" baseline="0" dirty="0">
                <a:solidFill>
                  <a:schemeClr val="tx1"/>
                </a:solidFill>
                <a:latin typeface="Calibri" panose="020F0502020204030204" pitchFamily="34" charset="0"/>
              </a:rPr>
              <a:t>One Hot Encoding data fields for Machine Learning and dropping 	irrelevant columns</a:t>
            </a:r>
          </a:p>
          <a:p>
            <a:pPr marL="0" indent="0">
              <a:buNone/>
            </a:pPr>
            <a:r>
              <a:rPr lang="en-US" sz="1800" b="0" i="0" u="none" strike="noStrike" baseline="0" dirty="0">
                <a:solidFill>
                  <a:schemeClr val="tx1"/>
                </a:solidFill>
                <a:latin typeface="Arial" panose="020B0604020202020204" pitchFamily="34" charset="0"/>
              </a:rPr>
              <a:t>•</a:t>
            </a:r>
            <a:r>
              <a:rPr lang="en-US" sz="1800" b="0" i="0" u="none" strike="noStrike" baseline="0" dirty="0">
                <a:solidFill>
                  <a:schemeClr val="tx1"/>
                </a:solidFill>
                <a:latin typeface="Calibri" panose="020F0502020204030204" pitchFamily="34" charset="0"/>
              </a:rPr>
              <a:t>Performed exploratory data analysis (EDA) using visualization and SQL</a:t>
            </a:r>
          </a:p>
          <a:p>
            <a:pPr marL="0" indent="0">
              <a:buNone/>
            </a:pPr>
            <a:r>
              <a:rPr lang="en-US" sz="1800" dirty="0">
                <a:solidFill>
                  <a:schemeClr val="tx1"/>
                </a:solidFill>
                <a:latin typeface="Calibri" panose="020F0502020204030204" pitchFamily="34" charset="0"/>
              </a:rPr>
              <a:t>	</a:t>
            </a:r>
            <a:r>
              <a:rPr lang="en-US" sz="1800" b="0" i="0" u="none" strike="noStrike" baseline="0" dirty="0">
                <a:solidFill>
                  <a:schemeClr val="tx1"/>
                </a:solidFill>
                <a:latin typeface="Calibri" panose="020F0502020204030204" pitchFamily="34" charset="0"/>
              </a:rPr>
              <a:t>Plotting : Scatter Graphs, Bar Graphs to show relationships between        	variables to show patterns of data. </a:t>
            </a:r>
          </a:p>
          <a:p>
            <a:pPr marL="0" indent="0">
              <a:buNone/>
            </a:pPr>
            <a:r>
              <a:rPr lang="en-US" sz="1800" b="0" i="0" u="none" strike="noStrike" baseline="0" dirty="0">
                <a:solidFill>
                  <a:schemeClr val="tx1"/>
                </a:solidFill>
                <a:latin typeface="Arial" panose="020B0604020202020204" pitchFamily="34" charset="0"/>
              </a:rPr>
              <a:t>•</a:t>
            </a:r>
            <a:r>
              <a:rPr lang="en-US" sz="1800" b="0" i="0" u="none" strike="noStrike" baseline="0" dirty="0">
                <a:solidFill>
                  <a:schemeClr val="tx1"/>
                </a:solidFill>
                <a:latin typeface="Calibri" panose="020F0502020204030204" pitchFamily="34" charset="0"/>
              </a:rPr>
              <a:t>Performed interactive visual analytics using Folium and </a:t>
            </a:r>
            <a:r>
              <a:rPr lang="en-US" sz="1800" b="0" i="0" u="none" strike="noStrike" baseline="0" dirty="0" err="1">
                <a:solidFill>
                  <a:schemeClr val="tx1"/>
                </a:solidFill>
                <a:latin typeface="Calibri" panose="020F0502020204030204" pitchFamily="34" charset="0"/>
              </a:rPr>
              <a:t>Plotly</a:t>
            </a:r>
            <a:r>
              <a:rPr lang="en-US" sz="1800" b="0" i="0" u="none" strike="noStrike" baseline="0" dirty="0">
                <a:solidFill>
                  <a:schemeClr val="tx1"/>
                </a:solidFill>
                <a:latin typeface="Calibri" panose="020F0502020204030204" pitchFamily="34" charset="0"/>
              </a:rPr>
              <a:t> Dash</a:t>
            </a:r>
          </a:p>
          <a:p>
            <a:pPr marL="0" indent="0">
              <a:buNone/>
            </a:pPr>
            <a:r>
              <a:rPr lang="en-US" sz="1800" b="0" i="0" u="none" strike="noStrike" baseline="0" dirty="0">
                <a:solidFill>
                  <a:schemeClr val="tx1"/>
                </a:solidFill>
                <a:latin typeface="Arial" panose="020B0604020202020204" pitchFamily="34" charset="0"/>
              </a:rPr>
              <a:t>•</a:t>
            </a:r>
            <a:r>
              <a:rPr lang="en-US" sz="1800" b="0" i="0" u="none" strike="noStrike" baseline="0" dirty="0">
                <a:solidFill>
                  <a:schemeClr val="tx1"/>
                </a:solidFill>
                <a:latin typeface="Calibri" panose="020F0502020204030204" pitchFamily="34" charset="0"/>
              </a:rPr>
              <a:t>Performed predictive analysis using classification models</a:t>
            </a:r>
          </a:p>
          <a:p>
            <a:pPr marL="0" indent="0">
              <a:buNone/>
            </a:pPr>
            <a:r>
              <a:rPr lang="en-US" sz="1800" b="0" i="0" u="none" strike="noStrike" baseline="0" dirty="0">
                <a:solidFill>
                  <a:schemeClr val="tx1"/>
                </a:solidFill>
                <a:latin typeface="Arial" panose="020B0604020202020204" pitchFamily="34" charset="0"/>
              </a:rPr>
              <a:t>	•</a:t>
            </a:r>
            <a:r>
              <a:rPr lang="en-US" sz="1800" b="0" i="0" u="none" strike="noStrike" baseline="0" dirty="0">
                <a:solidFill>
                  <a:schemeClr val="tx1"/>
                </a:solidFill>
                <a:latin typeface="Calibri" panose="020F0502020204030204" pitchFamily="34" charset="0"/>
              </a:rPr>
              <a:t>How to build, tune, evaluate classification models</a:t>
            </a:r>
          </a:p>
          <a:p>
            <a:pPr marL="0" indent="0">
              <a:buNone/>
            </a:pPr>
            <a:endParaRPr lang="en-US" sz="1800" dirty="0"/>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3F900-F166-BEB7-F740-8C872536D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5210DC-B757-47AF-44F4-D6EC9F4BF93B}"/>
              </a:ext>
            </a:extLst>
          </p:cNvPr>
          <p:cNvSpPr>
            <a:spLocks noGrp="1"/>
          </p:cNvSpPr>
          <p:nvPr>
            <p:ph type="title"/>
          </p:nvPr>
        </p:nvSpPr>
        <p:spPr>
          <a:xfrm>
            <a:off x="838200" y="365125"/>
            <a:ext cx="10515600" cy="1325563"/>
          </a:xfrm>
        </p:spPr>
        <p:txBody>
          <a:bodyPr anchor="ctr">
            <a:normAutofit/>
          </a:bodyPr>
          <a:lstStyle/>
          <a:p>
            <a:r>
              <a:rPr lang="en-US" dirty="0"/>
              <a:t>RESULTS</a:t>
            </a:r>
          </a:p>
        </p:txBody>
      </p:sp>
      <p:sp>
        <p:nvSpPr>
          <p:cNvPr id="3" name="Content Placeholder 2">
            <a:extLst>
              <a:ext uri="{FF2B5EF4-FFF2-40B4-BE49-F238E27FC236}">
                <a16:creationId xmlns:a16="http://schemas.microsoft.com/office/drawing/2014/main" id="{27E1D05E-A3D3-356F-EB51-94E7A1AE2A61}"/>
              </a:ext>
            </a:extLst>
          </p:cNvPr>
          <p:cNvSpPr txBox="1">
            <a:spLocks/>
          </p:cNvSpPr>
          <p:nvPr/>
        </p:nvSpPr>
        <p:spPr>
          <a:xfrm>
            <a:off x="1043114" y="1825625"/>
            <a:ext cx="70687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sz="1800"/>
          </a:p>
          <a:p>
            <a:pPr marL="0" indent="0">
              <a:buFont typeface="Arial"/>
              <a:buNone/>
            </a:pPr>
            <a:endParaRPr lang="en-US" sz="1800"/>
          </a:p>
          <a:p>
            <a:pPr marL="0" indent="0">
              <a:buFont typeface="Arial"/>
              <a:buNone/>
            </a:pPr>
            <a:endParaRPr lang="en-US" sz="1800" dirty="0"/>
          </a:p>
        </p:txBody>
      </p:sp>
      <p:pic>
        <p:nvPicPr>
          <p:cNvPr id="7" name="Picture 6">
            <a:extLst>
              <a:ext uri="{FF2B5EF4-FFF2-40B4-BE49-F238E27FC236}">
                <a16:creationId xmlns:a16="http://schemas.microsoft.com/office/drawing/2014/main" id="{2039020B-72A5-E482-9FD5-4837B049C3A4}"/>
              </a:ext>
            </a:extLst>
          </p:cNvPr>
          <p:cNvPicPr>
            <a:picLocks noChangeAspect="1"/>
          </p:cNvPicPr>
          <p:nvPr/>
        </p:nvPicPr>
        <p:blipFill>
          <a:blip r:embed="rId3"/>
          <a:stretch>
            <a:fillRect/>
          </a:stretch>
        </p:blipFill>
        <p:spPr>
          <a:xfrm>
            <a:off x="0" y="1443789"/>
            <a:ext cx="12192000" cy="4875627"/>
          </a:xfrm>
          <a:prstGeom prst="rect">
            <a:avLst/>
          </a:prstGeom>
        </p:spPr>
      </p:pic>
    </p:spTree>
    <p:custDataLst>
      <p:tags r:id="rId1"/>
    </p:custDataLst>
    <p:extLst>
      <p:ext uri="{BB962C8B-B14F-4D97-AF65-F5344CB8AC3E}">
        <p14:creationId xmlns:p14="http://schemas.microsoft.com/office/powerpoint/2010/main" val="2215908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a:xfrm>
            <a:off x="838200" y="365125"/>
            <a:ext cx="10515600" cy="1325563"/>
          </a:xfrm>
        </p:spPr>
        <p:txBody>
          <a:bodyPr/>
          <a:lstStyle/>
          <a:p>
            <a:r>
              <a:rPr lang="en-US" dirty="0"/>
              <a:t>Payload Mass Vs Launch Site</a:t>
            </a:r>
          </a:p>
        </p:txBody>
      </p:sp>
      <p:pic>
        <p:nvPicPr>
          <p:cNvPr id="5" name="Content Placeholder 4">
            <a:extLst>
              <a:ext uri="{FF2B5EF4-FFF2-40B4-BE49-F238E27FC236}">
                <a16:creationId xmlns:a16="http://schemas.microsoft.com/office/drawing/2014/main" id="{518D5C5C-1446-AB83-EB23-8C26AC8DB1C3}"/>
              </a:ext>
            </a:extLst>
          </p:cNvPr>
          <p:cNvPicPr>
            <a:picLocks noGrp="1" noChangeAspect="1"/>
          </p:cNvPicPr>
          <p:nvPr>
            <p:ph sz="half" idx="1"/>
          </p:nvPr>
        </p:nvPicPr>
        <p:blipFill>
          <a:blip r:embed="rId3"/>
          <a:stretch>
            <a:fillRect/>
          </a:stretch>
        </p:blipFill>
        <p:spPr>
          <a:xfrm flipH="1">
            <a:off x="750888" y="2220754"/>
            <a:ext cx="63500" cy="22542"/>
          </a:xfrm>
        </p:spPr>
      </p:pic>
      <p:sp>
        <p:nvSpPr>
          <p:cNvPr id="10" name="Content Placeholder 2">
            <a:extLst>
              <a:ext uri="{FF2B5EF4-FFF2-40B4-BE49-F238E27FC236}">
                <a16:creationId xmlns:a16="http://schemas.microsoft.com/office/drawing/2014/main" id="{2DFAC5CF-1B58-ABB4-D63B-1D931D572459}"/>
              </a:ext>
            </a:extLst>
          </p:cNvPr>
          <p:cNvSpPr txBox="1">
            <a:spLocks/>
          </p:cNvSpPr>
          <p:nvPr/>
        </p:nvSpPr>
        <p:spPr>
          <a:xfrm flipH="1">
            <a:off x="683394" y="5675023"/>
            <a:ext cx="154805" cy="5019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endParaRPr lang="en-US" sz="2200" dirty="0">
              <a:solidFill>
                <a:schemeClr val="tx1"/>
              </a:solidFill>
            </a:endParaRPr>
          </a:p>
        </p:txBody>
      </p:sp>
      <p:sp>
        <p:nvSpPr>
          <p:cNvPr id="11" name="Content Placeholder 2">
            <a:extLst>
              <a:ext uri="{FF2B5EF4-FFF2-40B4-BE49-F238E27FC236}">
                <a16:creationId xmlns:a16="http://schemas.microsoft.com/office/drawing/2014/main" id="{FBAA9DB0-9EAC-9B25-C7F3-3CE83758128E}"/>
              </a:ext>
            </a:extLst>
          </p:cNvPr>
          <p:cNvSpPr txBox="1">
            <a:spLocks/>
          </p:cNvSpPr>
          <p:nvPr/>
        </p:nvSpPr>
        <p:spPr>
          <a:xfrm>
            <a:off x="6172200"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&lt; Bar chart of top 10 programming languages for the next year goes here.&gt;</a:t>
            </a:r>
          </a:p>
        </p:txBody>
      </p:sp>
      <p:pic>
        <p:nvPicPr>
          <p:cNvPr id="12" name="Content Placeholder 11">
            <a:extLst>
              <a:ext uri="{FF2B5EF4-FFF2-40B4-BE49-F238E27FC236}">
                <a16:creationId xmlns:a16="http://schemas.microsoft.com/office/drawing/2014/main" id="{145E3538-849D-8438-466C-34BCC936B238}"/>
              </a:ext>
            </a:extLst>
          </p:cNvPr>
          <p:cNvPicPr>
            <a:picLocks noGrp="1" noChangeAspect="1"/>
          </p:cNvPicPr>
          <p:nvPr>
            <p:ph sz="half" idx="2"/>
          </p:nvPr>
        </p:nvPicPr>
        <p:blipFill>
          <a:blip r:embed="rId3"/>
          <a:stretch>
            <a:fillRect/>
          </a:stretch>
        </p:blipFill>
        <p:spPr>
          <a:xfrm>
            <a:off x="683393" y="1347537"/>
            <a:ext cx="11001675" cy="4327486"/>
          </a:xfrm>
        </p:spPr>
      </p:pic>
    </p:spTree>
    <p:custDataLst>
      <p:tags r:id="rId1"/>
    </p:custDataLst>
    <p:extLst>
      <p:ext uri="{BB962C8B-B14F-4D97-AF65-F5344CB8AC3E}">
        <p14:creationId xmlns:p14="http://schemas.microsoft.com/office/powerpoint/2010/main" val="3684467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838200" y="365125"/>
            <a:ext cx="10515600" cy="1069039"/>
          </a:xfrm>
        </p:spPr>
        <p:txBody>
          <a:bodyPr>
            <a:normAutofit/>
          </a:bodyPr>
          <a:lstStyle/>
          <a:p>
            <a:r>
              <a:rPr lang="en-US" sz="2800" dirty="0"/>
              <a:t>Success rate vs Orbit type</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13816" y="1825625"/>
            <a:ext cx="5181600" cy="4351338"/>
          </a:xfrm>
        </p:spPr>
        <p:txBody>
          <a:bodyPr/>
          <a:lstStyle/>
          <a:p>
            <a:pPr marL="0" indent="0">
              <a:buNone/>
            </a:pPr>
            <a:r>
              <a:rPr lang="en-US" dirty="0"/>
              <a:t>Findings</a:t>
            </a:r>
          </a:p>
          <a:p>
            <a:pPr marL="0" indent="0">
              <a:buNone/>
            </a:pPr>
            <a:endParaRPr lang="en-US" dirty="0"/>
          </a:p>
          <a:p>
            <a:r>
              <a:rPr lang="en-US" dirty="0"/>
              <a:t>Finding 1</a:t>
            </a:r>
          </a:p>
          <a:p>
            <a:r>
              <a:rPr lang="en-US" dirty="0"/>
              <a:t>Finding 2</a:t>
            </a:r>
          </a:p>
          <a:p>
            <a:r>
              <a:rPr lang="en-US" dirty="0"/>
              <a:t>Finding 3</a:t>
            </a:r>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172200" y="1825625"/>
            <a:ext cx="5181600" cy="4351338"/>
          </a:xfrm>
        </p:spPr>
        <p:txBody>
          <a:bodyPr/>
          <a:lstStyle/>
          <a:p>
            <a:pPr marL="0" indent="0">
              <a:buNone/>
            </a:pPr>
            <a:r>
              <a:rPr lang="en-US" dirty="0"/>
              <a:t>Implications</a:t>
            </a:r>
          </a:p>
          <a:p>
            <a:pPr marL="0" indent="0">
              <a:buNone/>
            </a:pPr>
            <a:endParaRPr lang="en-US" dirty="0"/>
          </a:p>
          <a:p>
            <a:r>
              <a:rPr lang="en-US" dirty="0"/>
              <a:t>Implication 1</a:t>
            </a:r>
          </a:p>
          <a:p>
            <a:r>
              <a:rPr lang="en-US" dirty="0"/>
              <a:t>Implication 2</a:t>
            </a:r>
          </a:p>
          <a:p>
            <a:r>
              <a:rPr lang="en-US" dirty="0"/>
              <a:t>Implication 3</a:t>
            </a:r>
          </a:p>
        </p:txBody>
      </p:sp>
      <p:pic>
        <p:nvPicPr>
          <p:cNvPr id="6" name="Picture 5">
            <a:extLst>
              <a:ext uri="{FF2B5EF4-FFF2-40B4-BE49-F238E27FC236}">
                <a16:creationId xmlns:a16="http://schemas.microsoft.com/office/drawing/2014/main" id="{5F82E715-F6A3-E120-E05F-D81C7D1D2855}"/>
              </a:ext>
            </a:extLst>
          </p:cNvPr>
          <p:cNvPicPr>
            <a:picLocks noChangeAspect="1"/>
          </p:cNvPicPr>
          <p:nvPr/>
        </p:nvPicPr>
        <p:blipFill>
          <a:blip r:embed="rId3"/>
          <a:stretch>
            <a:fillRect/>
          </a:stretch>
        </p:blipFill>
        <p:spPr>
          <a:xfrm>
            <a:off x="0" y="115503"/>
            <a:ext cx="12192000" cy="6441265"/>
          </a:xfrm>
          <a:prstGeom prst="rect">
            <a:avLst/>
          </a:prstGeom>
        </p:spPr>
      </p:pic>
    </p:spTree>
    <p:custDataLst>
      <p:tags r:id="rId1"/>
    </p:custDataLst>
    <p:extLst>
      <p:ext uri="{BB962C8B-B14F-4D97-AF65-F5344CB8AC3E}">
        <p14:creationId xmlns:p14="http://schemas.microsoft.com/office/powerpoint/2010/main" val="3701288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lstStyle/>
          <a:p>
            <a:r>
              <a:rPr lang="en-US" dirty="0"/>
              <a:t>DATABASE TRENDS</a:t>
            </a:r>
          </a:p>
        </p:txBody>
      </p:sp>
      <p:sp>
        <p:nvSpPr>
          <p:cNvPr id="3" name="Content Placeholder 2">
            <a:extLst>
              <a:ext uri="{FF2B5EF4-FFF2-40B4-BE49-F238E27FC236}">
                <a16:creationId xmlns:a16="http://schemas.microsoft.com/office/drawing/2014/main" id="{6C2B3FA5-2985-EAFB-8885-6820D4058AF4}"/>
              </a:ext>
            </a:extLst>
          </p:cNvPr>
          <p:cNvSpPr>
            <a:spLocks noGrp="1"/>
          </p:cNvSpPr>
          <p:nvPr>
            <p:ph sz="half" idx="1"/>
          </p:nvPr>
        </p:nvSpPr>
        <p:spPr>
          <a:xfrm>
            <a:off x="813816" y="1825625"/>
            <a:ext cx="2228642" cy="501939"/>
          </a:xfrm>
        </p:spPr>
        <p:txBody>
          <a:bodyPr/>
          <a:lstStyle/>
          <a:p>
            <a:pPr marL="0" indent="0">
              <a:buNone/>
            </a:pPr>
            <a:r>
              <a:rPr lang="en-US" dirty="0"/>
              <a:t>Current Year</a:t>
            </a:r>
          </a:p>
        </p:txBody>
      </p:sp>
      <p:sp>
        <p:nvSpPr>
          <p:cNvPr id="4" name="Content Placeholder 3">
            <a:extLst>
              <a:ext uri="{FF2B5EF4-FFF2-40B4-BE49-F238E27FC236}">
                <a16:creationId xmlns:a16="http://schemas.microsoft.com/office/drawing/2014/main" id="{30E0AA0B-A66B-F896-65D9-69DDA700D8E7}"/>
              </a:ext>
            </a:extLst>
          </p:cNvPr>
          <p:cNvSpPr>
            <a:spLocks noGrp="1"/>
          </p:cNvSpPr>
          <p:nvPr>
            <p:ph sz="half" idx="2"/>
          </p:nvPr>
        </p:nvSpPr>
        <p:spPr>
          <a:xfrm>
            <a:off x="6172200" y="1825625"/>
            <a:ext cx="1758142" cy="501939"/>
          </a:xfrm>
        </p:spPr>
        <p:txBody>
          <a:bodyPr/>
          <a:lstStyle/>
          <a:p>
            <a:pPr marL="0" indent="0">
              <a:buNone/>
            </a:pPr>
            <a:r>
              <a:rPr lang="en-US" dirty="0"/>
              <a:t>Next Year</a:t>
            </a:r>
          </a:p>
        </p:txBody>
      </p:sp>
      <p:sp>
        <p:nvSpPr>
          <p:cNvPr id="5" name="Content Placeholder 2">
            <a:extLst>
              <a:ext uri="{FF2B5EF4-FFF2-40B4-BE49-F238E27FC236}">
                <a16:creationId xmlns:a16="http://schemas.microsoft.com/office/drawing/2014/main" id="{B4E86EFD-B801-5996-879A-7A13CF75507C}"/>
              </a:ext>
            </a:extLst>
          </p:cNvPr>
          <p:cNvSpPr txBox="1">
            <a:spLocks/>
          </p:cNvSpPr>
          <p:nvPr/>
        </p:nvSpPr>
        <p:spPr>
          <a:xfrm>
            <a:off x="838199"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&lt; Bar chart of top 10 databases for the current year goes here &gt;</a:t>
            </a:r>
          </a:p>
        </p:txBody>
      </p:sp>
      <p:sp>
        <p:nvSpPr>
          <p:cNvPr id="6" name="Content Placeholder 2">
            <a:extLst>
              <a:ext uri="{FF2B5EF4-FFF2-40B4-BE49-F238E27FC236}">
                <a16:creationId xmlns:a16="http://schemas.microsoft.com/office/drawing/2014/main" id="{EF288C39-3E30-44CF-06C3-D46763CC8E0C}"/>
              </a:ext>
            </a:extLst>
          </p:cNvPr>
          <p:cNvSpPr txBox="1">
            <a:spLocks/>
          </p:cNvSpPr>
          <p:nvPr/>
        </p:nvSpPr>
        <p:spPr>
          <a:xfrm>
            <a:off x="6172200" y="2506661"/>
            <a:ext cx="4614949" cy="36703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sz="2200" dirty="0">
                <a:solidFill>
                  <a:schemeClr val="tx1"/>
                </a:solidFill>
              </a:rPr>
              <a:t>&lt; Bar chart of top 10 databases for the next year goes here.&gt;</a:t>
            </a:r>
          </a:p>
        </p:txBody>
      </p:sp>
      <p:pic>
        <p:nvPicPr>
          <p:cNvPr id="10" name="Picture 9">
            <a:extLst>
              <a:ext uri="{FF2B5EF4-FFF2-40B4-BE49-F238E27FC236}">
                <a16:creationId xmlns:a16="http://schemas.microsoft.com/office/drawing/2014/main" id="{8735997B-C545-8257-BC29-7AB47FFAC2E2}"/>
              </a:ext>
            </a:extLst>
          </p:cNvPr>
          <p:cNvPicPr>
            <a:picLocks noChangeAspect="1"/>
          </p:cNvPicPr>
          <p:nvPr/>
        </p:nvPicPr>
        <p:blipFill>
          <a:blip r:embed="rId3"/>
          <a:stretch>
            <a:fillRect/>
          </a:stretch>
        </p:blipFill>
        <p:spPr>
          <a:xfrm>
            <a:off x="0" y="315881"/>
            <a:ext cx="12192000" cy="6226238"/>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48985" y="365125"/>
            <a:ext cx="12094029" cy="1325563"/>
          </a:xfrm>
        </p:spPr>
        <p:txBody>
          <a:bodyPr/>
          <a:lstStyle/>
          <a:p>
            <a:r>
              <a:rPr lang="en-US" dirty="0"/>
              <a:t>DATABASE TRENDS - FINDINGS &amp; IMPLICATIONS</a:t>
            </a:r>
          </a:p>
        </p:txBody>
      </p:sp>
      <p:sp>
        <p:nvSpPr>
          <p:cNvPr id="3" name="Content Placeholder 2">
            <a:extLst>
              <a:ext uri="{FF2B5EF4-FFF2-40B4-BE49-F238E27FC236}">
                <a16:creationId xmlns:a16="http://schemas.microsoft.com/office/drawing/2014/main" id="{F73EC42F-75A2-FA08-F2B6-EB2817BBF83F}"/>
              </a:ext>
            </a:extLst>
          </p:cNvPr>
          <p:cNvSpPr>
            <a:spLocks noGrp="1"/>
          </p:cNvSpPr>
          <p:nvPr>
            <p:ph sz="half" idx="1"/>
          </p:nvPr>
        </p:nvSpPr>
        <p:spPr>
          <a:xfrm>
            <a:off x="813816" y="1825625"/>
            <a:ext cx="5181600" cy="4351338"/>
          </a:xfrm>
        </p:spPr>
        <p:txBody>
          <a:bodyPr/>
          <a:lstStyle/>
          <a:p>
            <a:pPr marL="0" indent="0">
              <a:buNone/>
            </a:pPr>
            <a:r>
              <a:rPr lang="en-US" dirty="0"/>
              <a:t>Findings</a:t>
            </a:r>
          </a:p>
          <a:p>
            <a:pPr marL="0" indent="0">
              <a:buNone/>
            </a:pPr>
            <a:endParaRPr lang="en-US" dirty="0"/>
          </a:p>
          <a:p>
            <a:r>
              <a:rPr lang="en-US" dirty="0"/>
              <a:t>Finding 1</a:t>
            </a:r>
          </a:p>
          <a:p>
            <a:r>
              <a:rPr lang="en-US" dirty="0"/>
              <a:t>Finding 2</a:t>
            </a:r>
          </a:p>
          <a:p>
            <a:r>
              <a:rPr lang="en-US" dirty="0"/>
              <a:t>Finding 3</a:t>
            </a:r>
          </a:p>
        </p:txBody>
      </p:sp>
      <p:sp>
        <p:nvSpPr>
          <p:cNvPr id="4" name="Content Placeholder 3">
            <a:extLst>
              <a:ext uri="{FF2B5EF4-FFF2-40B4-BE49-F238E27FC236}">
                <a16:creationId xmlns:a16="http://schemas.microsoft.com/office/drawing/2014/main" id="{D327B10A-E9C3-5B71-0345-782E28BDB37C}"/>
              </a:ext>
            </a:extLst>
          </p:cNvPr>
          <p:cNvSpPr>
            <a:spLocks noGrp="1"/>
          </p:cNvSpPr>
          <p:nvPr>
            <p:ph sz="half" idx="2"/>
          </p:nvPr>
        </p:nvSpPr>
        <p:spPr>
          <a:xfrm>
            <a:off x="6172200" y="1825625"/>
            <a:ext cx="5181600" cy="4351338"/>
          </a:xfrm>
        </p:spPr>
        <p:txBody>
          <a:bodyPr/>
          <a:lstStyle/>
          <a:p>
            <a:pPr marL="0" indent="0">
              <a:buNone/>
            </a:pPr>
            <a:r>
              <a:rPr lang="en-US" dirty="0"/>
              <a:t>Implications</a:t>
            </a:r>
          </a:p>
          <a:p>
            <a:pPr marL="0" indent="0">
              <a:buNone/>
            </a:pPr>
            <a:endParaRPr lang="en-US" dirty="0"/>
          </a:p>
          <a:p>
            <a:r>
              <a:rPr lang="en-US" dirty="0"/>
              <a:t>Implication 1</a:t>
            </a:r>
          </a:p>
          <a:p>
            <a:r>
              <a:rPr lang="en-US" dirty="0"/>
              <a:t>Implication 2</a:t>
            </a:r>
          </a:p>
          <a:p>
            <a:r>
              <a:rPr lang="en-US" dirty="0"/>
              <a:t>Implication 3</a:t>
            </a:r>
          </a:p>
        </p:txBody>
      </p:sp>
      <p:pic>
        <p:nvPicPr>
          <p:cNvPr id="6" name="Picture 5">
            <a:extLst>
              <a:ext uri="{FF2B5EF4-FFF2-40B4-BE49-F238E27FC236}">
                <a16:creationId xmlns:a16="http://schemas.microsoft.com/office/drawing/2014/main" id="{3F47A3C5-0E8E-525A-9069-A026C5F428BB}"/>
              </a:ext>
            </a:extLst>
          </p:cNvPr>
          <p:cNvPicPr>
            <a:picLocks noChangeAspect="1"/>
          </p:cNvPicPr>
          <p:nvPr/>
        </p:nvPicPr>
        <p:blipFill>
          <a:blip r:embed="rId3"/>
          <a:stretch>
            <a:fillRect/>
          </a:stretch>
        </p:blipFill>
        <p:spPr>
          <a:xfrm>
            <a:off x="0" y="345338"/>
            <a:ext cx="12192000" cy="6167323"/>
          </a:xfrm>
          <a:prstGeom prst="rect">
            <a:avLst/>
          </a:prstGeom>
        </p:spPr>
      </p:pic>
    </p:spTree>
    <p:custDataLst>
      <p:tags r:id="rId1"/>
    </p:custDataLst>
    <p:extLst>
      <p:ext uri="{BB962C8B-B14F-4D97-AF65-F5344CB8AC3E}">
        <p14:creationId xmlns:p14="http://schemas.microsoft.com/office/powerpoint/2010/main" val="3188125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a:xfrm>
            <a:off x="838200" y="365125"/>
            <a:ext cx="10515600" cy="1325563"/>
          </a:xfrm>
        </p:spPr>
        <p:txBody>
          <a:bodyPr anchor="ctr">
            <a:normAutofit/>
          </a:bodyPr>
          <a:lstStyle/>
          <a:p>
            <a:r>
              <a:rPr lang="en-US" dirty="0"/>
              <a:t>DASHBOARD</a:t>
            </a:r>
          </a:p>
        </p:txBody>
      </p:sp>
      <p:sp>
        <p:nvSpPr>
          <p:cNvPr id="3" name="Content Placeholder 2">
            <a:extLst>
              <a:ext uri="{FF2B5EF4-FFF2-40B4-BE49-F238E27FC236}">
                <a16:creationId xmlns:a16="http://schemas.microsoft.com/office/drawing/2014/main" id="{25C64183-B387-01E7-21BA-4DA6B1F51815}"/>
              </a:ext>
            </a:extLst>
          </p:cNvPr>
          <p:cNvSpPr txBox="1">
            <a:spLocks/>
          </p:cNvSpPr>
          <p:nvPr/>
        </p:nvSpPr>
        <p:spPr>
          <a:xfrm>
            <a:off x="4285075" y="3142210"/>
            <a:ext cx="7068725" cy="25692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a:t>&lt;The GitHub link of the Cognos/Looker Studio dashboard goes here.&gt;</a:t>
            </a:r>
            <a:endParaRPr lang="en-US" sz="2200" dirty="0"/>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3"/>
          <a:stretch>
            <a:fillRect/>
          </a:stretch>
        </p:blipFill>
        <p:spPr>
          <a:xfrm>
            <a:off x="1077475" y="1901819"/>
            <a:ext cx="3054361" cy="3054361"/>
          </a:xfrm>
          <a:prstGeom prst="rect">
            <a:avLst/>
          </a:prstGeom>
        </p:spPr>
      </p:pic>
      <p:pic>
        <p:nvPicPr>
          <p:cNvPr id="6" name="Picture 5">
            <a:extLst>
              <a:ext uri="{FF2B5EF4-FFF2-40B4-BE49-F238E27FC236}">
                <a16:creationId xmlns:a16="http://schemas.microsoft.com/office/drawing/2014/main" id="{F0B8ED81-35BF-0333-445D-40984FAE2E20}"/>
              </a:ext>
            </a:extLst>
          </p:cNvPr>
          <p:cNvPicPr>
            <a:picLocks noChangeAspect="1"/>
          </p:cNvPicPr>
          <p:nvPr/>
        </p:nvPicPr>
        <p:blipFill>
          <a:blip r:embed="rId4"/>
          <a:stretch>
            <a:fillRect/>
          </a:stretch>
        </p:blipFill>
        <p:spPr>
          <a:xfrm>
            <a:off x="0" y="292100"/>
            <a:ext cx="12192000" cy="6273800"/>
          </a:xfrm>
          <a:prstGeom prst="rect">
            <a:avLst/>
          </a:prstGeom>
        </p:spPr>
      </p:pic>
    </p:spTree>
    <p:custDataLst>
      <p:tags r:id="rId1"/>
    </p:custDataLst>
    <p:extLst>
      <p:ext uri="{BB962C8B-B14F-4D97-AF65-F5344CB8AC3E}">
        <p14:creationId xmlns:p14="http://schemas.microsoft.com/office/powerpoint/2010/main" val="175219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838200" y="365125"/>
            <a:ext cx="10515600" cy="1325563"/>
          </a:xfrm>
        </p:spPr>
        <p:txBody>
          <a:bodyPr anchor="ctr">
            <a:normAutofit/>
          </a:bodyPr>
          <a:lstStyle/>
          <a:p>
            <a:r>
              <a:rPr lang="en-US" dirty="0"/>
              <a:t>DASHBOARD TAB 1</a:t>
            </a:r>
          </a:p>
        </p:txBody>
      </p:sp>
      <p:sp>
        <p:nvSpPr>
          <p:cNvPr id="3" name="Content Placeholder 2">
            <a:extLst>
              <a:ext uri="{FF2B5EF4-FFF2-40B4-BE49-F238E27FC236}">
                <a16:creationId xmlns:a16="http://schemas.microsoft.com/office/drawing/2014/main" id="{B396FB03-F857-3EC0-249E-AE03F391502E}"/>
              </a:ext>
            </a:extLst>
          </p:cNvPr>
          <p:cNvSpPr>
            <a:spLocks noGrp="1"/>
          </p:cNvSpPr>
          <p:nvPr>
            <p:ph idx="1"/>
          </p:nvPr>
        </p:nvSpPr>
        <p:spPr>
          <a:xfrm>
            <a:off x="838200" y="1690688"/>
            <a:ext cx="10515600" cy="4351338"/>
          </a:xfrm>
        </p:spPr>
        <p:txBody>
          <a:bodyPr/>
          <a:lstStyle/>
          <a:p>
            <a:pPr marL="0" indent="0">
              <a:buNone/>
            </a:pPr>
            <a:endParaRPr lang="en-US" dirty="0"/>
          </a:p>
          <a:p>
            <a:pPr marL="0" indent="0">
              <a:buNone/>
            </a:pPr>
            <a:endParaRPr lang="en-US" dirty="0"/>
          </a:p>
          <a:p>
            <a:pPr marL="0" indent="0">
              <a:buNone/>
            </a:pPr>
            <a:r>
              <a:rPr lang="en-US" dirty="0"/>
              <a:t>Screenshot of dashboard tab 1 goes here</a:t>
            </a:r>
          </a:p>
        </p:txBody>
      </p:sp>
      <p:pic>
        <p:nvPicPr>
          <p:cNvPr id="5" name="Picture 4">
            <a:extLst>
              <a:ext uri="{FF2B5EF4-FFF2-40B4-BE49-F238E27FC236}">
                <a16:creationId xmlns:a16="http://schemas.microsoft.com/office/drawing/2014/main" id="{BA952210-4D03-A114-42C2-69D022E237A6}"/>
              </a:ext>
            </a:extLst>
          </p:cNvPr>
          <p:cNvPicPr>
            <a:picLocks noChangeAspect="1"/>
          </p:cNvPicPr>
          <p:nvPr/>
        </p:nvPicPr>
        <p:blipFill>
          <a:blip r:embed="rId3"/>
          <a:stretch>
            <a:fillRect/>
          </a:stretch>
        </p:blipFill>
        <p:spPr>
          <a:xfrm>
            <a:off x="0" y="1337913"/>
            <a:ext cx="12070080" cy="5051342"/>
          </a:xfrm>
          <a:prstGeom prst="rect">
            <a:avLst/>
          </a:prstGeom>
        </p:spPr>
      </p:pic>
    </p:spTree>
    <p:custDataLst>
      <p:tags r:id="rId1"/>
    </p:custDataLst>
    <p:extLst>
      <p:ext uri="{BB962C8B-B14F-4D97-AF65-F5344CB8AC3E}">
        <p14:creationId xmlns:p14="http://schemas.microsoft.com/office/powerpoint/2010/main" val="2429736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838200" y="365125"/>
            <a:ext cx="10515600" cy="1325563"/>
          </a:xfrm>
        </p:spPr>
        <p:txBody>
          <a:bodyPr anchor="ctr">
            <a:normAutofit/>
          </a:bodyPr>
          <a:lstStyle/>
          <a:p>
            <a:r>
              <a:rPr lang="en-US" dirty="0"/>
              <a:t>DASHBOARD TAB 2</a:t>
            </a:r>
          </a:p>
        </p:txBody>
      </p:sp>
      <p:sp>
        <p:nvSpPr>
          <p:cNvPr id="3" name="Content Placeholder 2">
            <a:extLst>
              <a:ext uri="{FF2B5EF4-FFF2-40B4-BE49-F238E27FC236}">
                <a16:creationId xmlns:a16="http://schemas.microsoft.com/office/drawing/2014/main" id="{73960BF9-AB8D-4916-3BC9-E2E92E0872BE}"/>
              </a:ext>
            </a:extLst>
          </p:cNvPr>
          <p:cNvSpPr>
            <a:spLocks noGrp="1"/>
          </p:cNvSpPr>
          <p:nvPr>
            <p:ph idx="1"/>
          </p:nvPr>
        </p:nvSpPr>
        <p:spPr>
          <a:xfrm>
            <a:off x="838200" y="1690688"/>
            <a:ext cx="10515600" cy="4351338"/>
          </a:xfrm>
        </p:spPr>
        <p:txBody>
          <a:bodyPr/>
          <a:lstStyle/>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84635E95-D225-1876-D4EA-7F75C1D7FD79}"/>
              </a:ext>
            </a:extLst>
          </p:cNvPr>
          <p:cNvPicPr>
            <a:picLocks noChangeAspect="1"/>
          </p:cNvPicPr>
          <p:nvPr/>
        </p:nvPicPr>
        <p:blipFill>
          <a:blip r:embed="rId3"/>
          <a:stretch>
            <a:fillRect/>
          </a:stretch>
        </p:blipFill>
        <p:spPr>
          <a:xfrm>
            <a:off x="1051809" y="1453415"/>
            <a:ext cx="9237598" cy="4628667"/>
          </a:xfrm>
          <a:prstGeom prst="rect">
            <a:avLst/>
          </a:prstGeom>
        </p:spPr>
      </p:pic>
    </p:spTree>
    <p:custDataLst>
      <p:tags r:id="rId1"/>
    </p:custDataLst>
    <p:extLst>
      <p:ext uri="{BB962C8B-B14F-4D97-AF65-F5344CB8AC3E}">
        <p14:creationId xmlns:p14="http://schemas.microsoft.com/office/powerpoint/2010/main" val="2048496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a:xfrm>
            <a:off x="838200" y="365125"/>
            <a:ext cx="10515600" cy="1325563"/>
          </a:xfrm>
        </p:spPr>
        <p:txBody>
          <a:bodyPr anchor="ctr">
            <a:normAutofit/>
          </a:bodyPr>
          <a:lstStyle/>
          <a:p>
            <a:r>
              <a:rPr lang="en-US" dirty="0"/>
              <a:t>DASHBOARD TAB 3</a:t>
            </a:r>
          </a:p>
        </p:txBody>
      </p:sp>
      <p:sp>
        <p:nvSpPr>
          <p:cNvPr id="3" name="Content Placeholder 2">
            <a:extLst>
              <a:ext uri="{FF2B5EF4-FFF2-40B4-BE49-F238E27FC236}">
                <a16:creationId xmlns:a16="http://schemas.microsoft.com/office/drawing/2014/main" id="{84961A98-8DF3-E66E-19C4-7D7642551E90}"/>
              </a:ext>
            </a:extLst>
          </p:cNvPr>
          <p:cNvSpPr>
            <a:spLocks noGrp="1"/>
          </p:cNvSpPr>
          <p:nvPr>
            <p:ph idx="1"/>
          </p:nvPr>
        </p:nvSpPr>
        <p:spPr>
          <a:xfrm>
            <a:off x="838200" y="1690688"/>
            <a:ext cx="10515600" cy="4351338"/>
          </a:xfrm>
        </p:spPr>
        <p:txBody>
          <a:bodyPr/>
          <a:lstStyle/>
          <a:p>
            <a:pPr marL="0" indent="0">
              <a:buNone/>
            </a:pPr>
            <a:endParaRPr lang="en-US" dirty="0"/>
          </a:p>
          <a:p>
            <a:pPr marL="0" indent="0">
              <a:buNone/>
            </a:pPr>
            <a:endParaRPr lang="en-US" dirty="0"/>
          </a:p>
          <a:p>
            <a:pPr marL="0" indent="0">
              <a:buNone/>
            </a:pPr>
            <a:r>
              <a:rPr lang="en-US" dirty="0"/>
              <a:t>Screenshot of dashboard tab 3 goes here</a:t>
            </a:r>
          </a:p>
        </p:txBody>
      </p:sp>
      <p:pic>
        <p:nvPicPr>
          <p:cNvPr id="5" name="Picture 4">
            <a:extLst>
              <a:ext uri="{FF2B5EF4-FFF2-40B4-BE49-F238E27FC236}">
                <a16:creationId xmlns:a16="http://schemas.microsoft.com/office/drawing/2014/main" id="{B6BD41D9-B6FD-2993-4636-1CCAEAF461E1}"/>
              </a:ext>
            </a:extLst>
          </p:cNvPr>
          <p:cNvPicPr>
            <a:picLocks noChangeAspect="1"/>
          </p:cNvPicPr>
          <p:nvPr/>
        </p:nvPicPr>
        <p:blipFill>
          <a:blip r:embed="rId3"/>
          <a:stretch>
            <a:fillRect/>
          </a:stretch>
        </p:blipFill>
        <p:spPr>
          <a:xfrm>
            <a:off x="0" y="1232033"/>
            <a:ext cx="11896825" cy="4709077"/>
          </a:xfrm>
          <a:prstGeom prst="rect">
            <a:avLst/>
          </a:prstGeom>
        </p:spPr>
      </p:pic>
    </p:spTree>
    <p:custDataLst>
      <p:tags r:id="rId1"/>
    </p:custDataLst>
    <p:extLst>
      <p:ext uri="{BB962C8B-B14F-4D97-AF65-F5344CB8AC3E}">
        <p14:creationId xmlns:p14="http://schemas.microsoft.com/office/powerpoint/2010/main" val="24056362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a:xfrm>
            <a:off x="838200" y="365125"/>
            <a:ext cx="10515600" cy="1325563"/>
          </a:xfrm>
        </p:spPr>
        <p:txBody>
          <a:bodyPr anchor="ctr">
            <a:normAutofit/>
          </a:bodyPr>
          <a:lstStyle/>
          <a:p>
            <a:r>
              <a:rPr lang="en-US" dirty="0"/>
              <a:t>CONCLUSION</a:t>
            </a:r>
          </a:p>
        </p:txBody>
      </p:sp>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4544291" y="1825625"/>
            <a:ext cx="68095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endParaRPr lang="en-US" sz="1800" b="0" i="0" u="none" strike="noStrike" baseline="0" dirty="0">
              <a:solidFill>
                <a:srgbClr val="000000"/>
              </a:solidFill>
              <a:latin typeface="Arial" panose="020B0604020202020204" pitchFamily="34" charset="0"/>
            </a:endParaRPr>
          </a:p>
          <a:p>
            <a:pPr marL="0" indent="0">
              <a:buNone/>
            </a:pPr>
            <a:r>
              <a:rPr lang="en-US" sz="1800" b="0" i="0" u="none" strike="noStrike" baseline="0" dirty="0">
                <a:solidFill>
                  <a:srgbClr val="1C1C1C"/>
                </a:solidFill>
                <a:latin typeface="Arial" panose="020B0604020202020204" pitchFamily="34" charset="0"/>
              </a:rPr>
              <a:t>•</a:t>
            </a:r>
            <a:r>
              <a:rPr lang="en-US" sz="1800" b="0" i="0" u="none" strike="noStrike" baseline="0" dirty="0">
                <a:solidFill>
                  <a:srgbClr val="1C1C1C"/>
                </a:solidFill>
                <a:latin typeface="Calibri" panose="020F0502020204030204" pitchFamily="34" charset="0"/>
              </a:rPr>
              <a:t>The Tree Classifier Algorithm is the best for Machine Learning for this dataset</a:t>
            </a:r>
          </a:p>
          <a:p>
            <a:pPr marL="0" indent="0">
              <a:buNone/>
            </a:pPr>
            <a:r>
              <a:rPr lang="en-US" sz="1800" b="0" i="0" u="none" strike="noStrike" baseline="0" dirty="0">
                <a:solidFill>
                  <a:srgbClr val="1C1C1C"/>
                </a:solidFill>
                <a:latin typeface="Arial" panose="020B0604020202020204" pitchFamily="34" charset="0"/>
              </a:rPr>
              <a:t>•</a:t>
            </a:r>
            <a:r>
              <a:rPr lang="en-US" sz="1800" b="0" i="0" u="none" strike="noStrike" baseline="0" dirty="0">
                <a:solidFill>
                  <a:srgbClr val="1C1C1C"/>
                </a:solidFill>
                <a:latin typeface="Calibri" panose="020F0502020204030204" pitchFamily="34" charset="0"/>
              </a:rPr>
              <a:t>Low weighted payloads perform better than the heavier payloads</a:t>
            </a:r>
          </a:p>
          <a:p>
            <a:pPr marL="0" indent="0">
              <a:buNone/>
            </a:pPr>
            <a:r>
              <a:rPr lang="en-US" sz="1800" b="0" i="0" u="none" strike="noStrike" baseline="0" dirty="0">
                <a:solidFill>
                  <a:srgbClr val="1C1C1C"/>
                </a:solidFill>
                <a:latin typeface="Arial" panose="020B0604020202020204" pitchFamily="34" charset="0"/>
              </a:rPr>
              <a:t>•</a:t>
            </a:r>
            <a:r>
              <a:rPr lang="en-US" sz="1800" b="0" i="0" u="none" strike="noStrike" baseline="0" dirty="0">
                <a:solidFill>
                  <a:srgbClr val="1C1C1C"/>
                </a:solidFill>
                <a:latin typeface="Calibri" panose="020F0502020204030204" pitchFamily="34" charset="0"/>
              </a:rPr>
              <a:t>The success rates for SpaceX launches is directly proportional time in years they will eventually perfect the launches</a:t>
            </a:r>
          </a:p>
          <a:p>
            <a:pPr marL="0" indent="0">
              <a:buNone/>
            </a:pPr>
            <a:r>
              <a:rPr lang="en-US" sz="1800" b="0" i="0" u="none" strike="noStrike" baseline="0" dirty="0">
                <a:solidFill>
                  <a:srgbClr val="1C1C1C"/>
                </a:solidFill>
                <a:latin typeface="Arial" panose="020B0604020202020204" pitchFamily="34" charset="0"/>
              </a:rPr>
              <a:t>•</a:t>
            </a:r>
            <a:r>
              <a:rPr lang="en-US" sz="1800" b="0" i="0" u="none" strike="noStrike" baseline="0" dirty="0">
                <a:solidFill>
                  <a:srgbClr val="1C1C1C"/>
                </a:solidFill>
                <a:latin typeface="Calibri" panose="020F0502020204030204" pitchFamily="34" charset="0"/>
              </a:rPr>
              <a:t>We can see that KSC LC-39A had the most successful launches from all the sites</a:t>
            </a:r>
          </a:p>
          <a:p>
            <a:pPr marL="0" indent="0">
              <a:buNone/>
            </a:pPr>
            <a:r>
              <a:rPr lang="en-US" sz="1800" b="0" i="0" u="none" strike="noStrike" baseline="0" dirty="0">
                <a:solidFill>
                  <a:srgbClr val="1C1C1C"/>
                </a:solidFill>
                <a:latin typeface="Arial" panose="020B0604020202020204" pitchFamily="34" charset="0"/>
              </a:rPr>
              <a:t>•</a:t>
            </a:r>
            <a:r>
              <a:rPr lang="en-US" sz="1800" b="0" i="0" u="none" strike="noStrike" baseline="0" dirty="0">
                <a:solidFill>
                  <a:srgbClr val="1C1C1C"/>
                </a:solidFill>
                <a:latin typeface="Calibri" panose="020F0502020204030204" pitchFamily="34" charset="0"/>
              </a:rPr>
              <a:t>Orbit GEO,HEO,SSO,ES-L1 has the best Success Rate</a:t>
            </a:r>
          </a:p>
          <a:p>
            <a:pPr marL="0" indent="0">
              <a:buNone/>
            </a:pPr>
            <a:endParaRPr lang="en-US" dirty="0"/>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Tree>
    <p:custDataLst>
      <p:tags r:id="rId1"/>
    </p:custDataLst>
    <p:extLst>
      <p:ext uri="{BB962C8B-B14F-4D97-AF65-F5344CB8AC3E}">
        <p14:creationId xmlns:p14="http://schemas.microsoft.com/office/powerpoint/2010/main" val="8403782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a:xfrm>
            <a:off x="838200" y="365125"/>
            <a:ext cx="10515600" cy="1325563"/>
          </a:xfrm>
        </p:spPr>
        <p:txBody>
          <a:bodyPr anchor="ctr">
            <a:normAutofit/>
          </a:bodyPr>
          <a:lstStyle/>
          <a:p>
            <a:r>
              <a:rPr lang="en-US" dirty="0"/>
              <a:t>APPENDIX</a:t>
            </a:r>
          </a:p>
        </p:txBody>
      </p:sp>
      <p:sp>
        <p:nvSpPr>
          <p:cNvPr id="10" name="Content Placeholder 3">
            <a:extLst>
              <a:ext uri="{FF2B5EF4-FFF2-40B4-BE49-F238E27FC236}">
                <a16:creationId xmlns:a16="http://schemas.microsoft.com/office/drawing/2014/main" id="{8E40FF55-AE57-CB43-454D-CEFBE080CE8E}"/>
              </a:ext>
            </a:extLst>
          </p:cNvPr>
          <p:cNvSpPr txBox="1">
            <a:spLocks/>
          </p:cNvSpPr>
          <p:nvPr/>
        </p:nvSpPr>
        <p:spPr>
          <a:xfrm>
            <a:off x="4544291" y="1825625"/>
            <a:ext cx="680950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endParaRPr lang="en-US" sz="1800" b="0" i="0" u="none" strike="noStrike" baseline="0" dirty="0">
              <a:solidFill>
                <a:srgbClr val="000000"/>
              </a:solidFill>
              <a:latin typeface="Arial" panose="020B0604020202020204" pitchFamily="34" charset="0"/>
            </a:endParaRPr>
          </a:p>
          <a:p>
            <a:pPr marL="0" indent="0">
              <a:buNone/>
            </a:pPr>
            <a:r>
              <a:rPr lang="en-US" sz="1800" b="0" i="0" u="none" strike="noStrike" baseline="0" dirty="0">
                <a:solidFill>
                  <a:schemeClr val="tx1"/>
                </a:solidFill>
                <a:latin typeface="Arial" panose="020B0604020202020204" pitchFamily="34" charset="0"/>
              </a:rPr>
              <a:t>•</a:t>
            </a:r>
            <a:r>
              <a:rPr lang="en-US" sz="1800" b="0" i="0" u="none" strike="noStrike" baseline="0" dirty="0">
                <a:solidFill>
                  <a:schemeClr val="tx1"/>
                </a:solidFill>
                <a:latin typeface="Calibri" panose="020F0502020204030204" pitchFamily="34" charset="0"/>
              </a:rPr>
              <a:t>Haversine formula</a:t>
            </a:r>
          </a:p>
          <a:p>
            <a:pPr marL="0" indent="0">
              <a:buNone/>
            </a:pPr>
            <a:r>
              <a:rPr lang="en-US" sz="1800" b="0" i="0" u="none" strike="noStrike" baseline="0" dirty="0">
                <a:solidFill>
                  <a:schemeClr val="tx1"/>
                </a:solidFill>
                <a:latin typeface="Arial" panose="020B0604020202020204" pitchFamily="34" charset="0"/>
              </a:rPr>
              <a:t>•</a:t>
            </a:r>
            <a:r>
              <a:rPr lang="en-US" sz="1800" b="0" i="0" u="none" strike="noStrike" baseline="0" dirty="0" err="1">
                <a:solidFill>
                  <a:schemeClr val="tx1"/>
                </a:solidFill>
                <a:latin typeface="Calibri" panose="020F0502020204030204" pitchFamily="34" charset="0"/>
              </a:rPr>
              <a:t>ADGGoogleMaps</a:t>
            </a:r>
            <a:r>
              <a:rPr lang="en-US" sz="1800" b="0" i="0" u="none" strike="noStrike" baseline="0" dirty="0">
                <a:solidFill>
                  <a:schemeClr val="tx1"/>
                </a:solidFill>
                <a:latin typeface="Calibri" panose="020F0502020204030204" pitchFamily="34" charset="0"/>
              </a:rPr>
              <a:t> Module (not used but created)</a:t>
            </a:r>
          </a:p>
          <a:p>
            <a:pPr marL="0" indent="0">
              <a:buNone/>
            </a:pPr>
            <a:endParaRPr lang="en-US" dirty="0"/>
          </a:p>
        </p:txBody>
      </p:sp>
      <p:pic>
        <p:nvPicPr>
          <p:cNvPr id="11" name="Content Placeholder 3">
            <a:extLst>
              <a:ext uri="{FF2B5EF4-FFF2-40B4-BE49-F238E27FC236}">
                <a16:creationId xmlns:a16="http://schemas.microsoft.com/office/drawing/2014/main" id="{E8E550E5-7A15-A106-D083-8C1433A790A1}"/>
              </a:ext>
            </a:extLst>
          </p:cNvPr>
          <p:cNvPicPr>
            <a:picLocks noGrp="1" noChangeAspect="1"/>
          </p:cNvPicPr>
          <p:nvPr>
            <p:ph sz="half" idx="1"/>
          </p:nvPr>
        </p:nvPicPr>
        <p:blipFill>
          <a:blip r:embed="rId3"/>
          <a:stretch>
            <a:fillRect/>
          </a:stretch>
        </p:blipFill>
        <p:spPr>
          <a:xfrm>
            <a:off x="1055857" y="1849823"/>
            <a:ext cx="3194581" cy="3194581"/>
          </a:xfrm>
          <a:prstGeom prst="rect">
            <a:avLst/>
          </a:prstGeom>
        </p:spPr>
      </p:pic>
    </p:spTree>
    <p:custDataLst>
      <p:tags r:id="rId1"/>
    </p:custDataLst>
    <p:extLst>
      <p:ext uri="{BB962C8B-B14F-4D97-AF65-F5344CB8AC3E}">
        <p14:creationId xmlns:p14="http://schemas.microsoft.com/office/powerpoint/2010/main" val="1860158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538248" y="481263"/>
            <a:ext cx="6603697" cy="933651"/>
          </a:xfrm>
        </p:spPr>
        <p:txBody>
          <a:bodyPr anchor="ctr">
            <a:normAutofit/>
          </a:bodyPr>
          <a:lstStyle/>
          <a:p>
            <a:r>
              <a:rPr lang="en-US" dirty="0"/>
              <a:t> </a:t>
            </a:r>
            <a:r>
              <a:rPr lang="en-US" dirty="0" err="1"/>
              <a:t>ADGGoogleMaps</a:t>
            </a:r>
            <a:r>
              <a:rPr lang="en-US" dirty="0"/>
              <a:t> Module</a:t>
            </a:r>
          </a:p>
        </p:txBody>
      </p:sp>
      <p:sp>
        <p:nvSpPr>
          <p:cNvPr id="10" name="Content Placeholder 2">
            <a:extLst>
              <a:ext uri="{FF2B5EF4-FFF2-40B4-BE49-F238E27FC236}">
                <a16:creationId xmlns:a16="http://schemas.microsoft.com/office/drawing/2014/main" id="{83F79416-0AFB-FC80-07E8-3CF2B4E7E798}"/>
              </a:ext>
            </a:extLst>
          </p:cNvPr>
          <p:cNvSpPr txBox="1">
            <a:spLocks/>
          </p:cNvSpPr>
          <p:nvPr/>
        </p:nvSpPr>
        <p:spPr>
          <a:xfrm>
            <a:off x="914400" y="2191385"/>
            <a:ext cx="10489276" cy="286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r>
              <a:rPr lang="en-US" sz="2200"/>
              <a:t>In Module 1 you have collected the job posting data using Job API in a file named “</a:t>
            </a:r>
            <a:r>
              <a:rPr lang="en-IN" sz="2400"/>
              <a:t>job-postings.xlsx</a:t>
            </a:r>
            <a:r>
              <a:rPr lang="en-US" sz="2200"/>
              <a:t>”. Present that data using a bar chart here. Order the bar chart in the descending order of the number of job postings.</a:t>
            </a:r>
            <a:endParaRPr lang="en-US" sz="2200" dirty="0"/>
          </a:p>
        </p:txBody>
      </p:sp>
      <p:pic>
        <p:nvPicPr>
          <p:cNvPr id="3" name="Picture 2">
            <a:extLst>
              <a:ext uri="{FF2B5EF4-FFF2-40B4-BE49-F238E27FC236}">
                <a16:creationId xmlns:a16="http://schemas.microsoft.com/office/drawing/2014/main" id="{38BB5F2F-0456-6646-4997-11A7E6A33E99}"/>
              </a:ext>
            </a:extLst>
          </p:cNvPr>
          <p:cNvPicPr>
            <a:picLocks noChangeAspect="1"/>
          </p:cNvPicPr>
          <p:nvPr/>
        </p:nvPicPr>
        <p:blipFill>
          <a:blip r:embed="rId3"/>
          <a:stretch>
            <a:fillRect/>
          </a:stretch>
        </p:blipFill>
        <p:spPr>
          <a:xfrm>
            <a:off x="0" y="1232034"/>
            <a:ext cx="12192000" cy="4863442"/>
          </a:xfrm>
          <a:prstGeom prst="rect">
            <a:avLst/>
          </a:prstGeom>
        </p:spPr>
      </p:pic>
    </p:spTree>
    <p:custDataLst>
      <p:tags r:id="rId1"/>
    </p:custDataLst>
    <p:extLst>
      <p:ext uri="{BB962C8B-B14F-4D97-AF65-F5344CB8AC3E}">
        <p14:creationId xmlns:p14="http://schemas.microsoft.com/office/powerpoint/2010/main" val="1935373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538248" y="471638"/>
            <a:ext cx="5929053" cy="924026"/>
          </a:xfrm>
        </p:spPr>
        <p:txBody>
          <a:bodyPr anchor="ctr">
            <a:normAutofit/>
          </a:bodyPr>
          <a:lstStyle/>
          <a:p>
            <a:r>
              <a:rPr lang="en-US" dirty="0"/>
              <a:t>Haversine Formula</a:t>
            </a:r>
          </a:p>
        </p:txBody>
      </p:sp>
      <p:sp>
        <p:nvSpPr>
          <p:cNvPr id="7" name="Content Placeholder 2">
            <a:extLst>
              <a:ext uri="{FF2B5EF4-FFF2-40B4-BE49-F238E27FC236}">
                <a16:creationId xmlns:a16="http://schemas.microsoft.com/office/drawing/2014/main" id="{95B1AABA-34AF-B1F5-3C7F-11AEB9E03637}"/>
              </a:ext>
            </a:extLst>
          </p:cNvPr>
          <p:cNvSpPr txBox="1">
            <a:spLocks/>
          </p:cNvSpPr>
          <p:nvPr/>
        </p:nvSpPr>
        <p:spPr>
          <a:xfrm>
            <a:off x="878305" y="2191385"/>
            <a:ext cx="10525371" cy="28627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sz="2200" dirty="0"/>
          </a:p>
        </p:txBody>
      </p:sp>
      <p:pic>
        <p:nvPicPr>
          <p:cNvPr id="3" name="Picture 2">
            <a:extLst>
              <a:ext uri="{FF2B5EF4-FFF2-40B4-BE49-F238E27FC236}">
                <a16:creationId xmlns:a16="http://schemas.microsoft.com/office/drawing/2014/main" id="{0D6E7B9B-7E9B-707A-3C60-58243D87FB28}"/>
              </a:ext>
            </a:extLst>
          </p:cNvPr>
          <p:cNvPicPr>
            <a:picLocks noChangeAspect="1"/>
          </p:cNvPicPr>
          <p:nvPr/>
        </p:nvPicPr>
        <p:blipFill>
          <a:blip r:embed="rId3"/>
          <a:stretch>
            <a:fillRect/>
          </a:stretch>
        </p:blipFill>
        <p:spPr>
          <a:xfrm>
            <a:off x="51544" y="1135780"/>
            <a:ext cx="12088912" cy="5236855"/>
          </a:xfrm>
          <a:prstGeom prst="rect">
            <a:avLst/>
          </a:prstGeom>
        </p:spPr>
      </p:pic>
    </p:spTree>
    <p:custDataLst>
      <p:tags r:id="rId1"/>
    </p:custDataLst>
    <p:extLst>
      <p:ext uri="{BB962C8B-B14F-4D97-AF65-F5344CB8AC3E}">
        <p14:creationId xmlns:p14="http://schemas.microsoft.com/office/powerpoint/2010/main" val="19459025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Props1.xml><?xml version="1.0" encoding="utf-8"?>
<ds:datastoreItem xmlns:ds="http://schemas.openxmlformats.org/officeDocument/2006/customXml" ds:itemID="{7EFDA260-DDA0-422C-B7AE-778F653FBB36}">
  <ds:schemaRefs>
    <ds:schemaRef ds:uri="http://schemas.microsoft.com/sharepoint/v3/contenttype/forms"/>
  </ds:schemaRefs>
</ds:datastoreItem>
</file>

<file path=customXml/itemProps2.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emplate>IBM PPT Temp Jan 2023</Template>
  <TotalTime>98</TotalTime>
  <Words>590</Words>
  <Application>Microsoft Office PowerPoint</Application>
  <PresentationFormat>Widescreen</PresentationFormat>
  <Paragraphs>99</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Helv</vt:lpstr>
      <vt:lpstr>IBM Plex Mono</vt:lpstr>
      <vt:lpstr>IBM Plex Sans</vt:lpstr>
      <vt:lpstr>IBM Plex Sans SemiBold</vt:lpstr>
      <vt:lpstr>SLIDE_TEMPLATE_skill_network</vt:lpstr>
      <vt:lpstr>IBM Data Science Capstone Project Space X</vt:lpstr>
      <vt:lpstr>PowerPoint Presentation</vt:lpstr>
      <vt:lpstr>EXECUTIVE SUMMARY</vt:lpstr>
      <vt:lpstr>INTRODUCTION</vt:lpstr>
      <vt:lpstr>METHODOLOGY</vt:lpstr>
      <vt:lpstr>RESULTS</vt:lpstr>
      <vt:lpstr>Payload Mass Vs Launch Site</vt:lpstr>
      <vt:lpstr>Success rate vs Orbit type</vt:lpstr>
      <vt:lpstr>DATABASE TRENDS</vt:lpstr>
      <vt:lpstr>DATABASE TRENDS - FINDINGS &amp; IMPLICATIONS</vt:lpstr>
      <vt:lpstr>DASHBOARD</vt:lpstr>
      <vt:lpstr>DASHBOARD TAB 1</vt:lpstr>
      <vt:lpstr>DASHBOARD TAB 2</vt:lpstr>
      <vt:lpstr>DASHBOARD TAB 3</vt:lpstr>
      <vt:lpstr>CONCLUSION</vt:lpstr>
      <vt:lpstr>APPENDIX</vt:lpstr>
      <vt:lpstr> ADGGoogleMaps Module</vt:lpstr>
      <vt:lpstr>Haversine Formula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andrej djukic</cp:lastModifiedBy>
  <cp:revision>3</cp:revision>
  <dcterms:created xsi:type="dcterms:W3CDTF">2024-10-30T05:40:03Z</dcterms:created>
  <dcterms:modified xsi:type="dcterms:W3CDTF">2025-04-14T22:54:16Z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